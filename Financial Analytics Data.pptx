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Oswald Medium"/>
      <p:regular r:id="rId17"/>
      <p:bold r:id="rId18"/>
    </p:embeddedFont>
    <p:embeddedFont>
      <p:font typeface="Roboto"/>
      <p:regular r:id="rId19"/>
      <p:bold r:id="rId20"/>
      <p:italic r:id="rId21"/>
      <p:boldItalic r:id="rId22"/>
    </p:embeddedFont>
    <p:embeddedFont>
      <p:font typeface="Average"/>
      <p:regular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Oswald-regular.fntdata"/><Relationship Id="rId23" Type="http://schemas.openxmlformats.org/officeDocument/2006/relationships/font" Target="fonts/Averag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swaldMedium-regular.fntdata"/><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font" Target="fonts/Oswald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c6f980f91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c6f980f9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c6f980f91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c6f980f9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c6f980f91_0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c6f980f9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76eb0fa59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76eb0fa59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76eb0fa59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76eb0fa59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76eb0fa5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76eb0fa5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l">
              <a:lnSpc>
                <a:spcPct val="115000"/>
              </a:lnSpc>
              <a:spcBef>
                <a:spcPts val="900"/>
              </a:spcBef>
              <a:spcAft>
                <a:spcPts val="0"/>
              </a:spcAft>
              <a:buNone/>
            </a:pPr>
            <a:r>
              <a:t/>
            </a:r>
            <a:endParaRPr sz="1750">
              <a:solidFill>
                <a:srgbClr val="D5D5D5"/>
              </a:solidFill>
              <a:highlight>
                <a:srgbClr val="383838"/>
              </a:highlight>
              <a:latin typeface="Roboto"/>
              <a:ea typeface="Roboto"/>
              <a:cs typeface="Roboto"/>
              <a:sym typeface="Roboto"/>
            </a:endParaRPr>
          </a:p>
          <a:p>
            <a:pPr indent="0" lvl="0" marL="0" rtl="0" algn="ctr">
              <a:spcBef>
                <a:spcPts val="900"/>
              </a:spcBef>
              <a:spcAft>
                <a:spcPts val="0"/>
              </a:spcAft>
              <a:buNone/>
            </a:pPr>
            <a:r>
              <a:rPr lang="en"/>
              <a:t>Financial Analytics Data</a:t>
            </a:r>
            <a:endParaRPr/>
          </a:p>
        </p:txBody>
      </p:sp>
      <p:sp>
        <p:nvSpPr>
          <p:cNvPr id="60" name="Google Shape;60;p13"/>
          <p:cNvSpPr txBox="1"/>
          <p:nvPr/>
        </p:nvSpPr>
        <p:spPr>
          <a:xfrm>
            <a:off x="2376725" y="3412750"/>
            <a:ext cx="4387800" cy="6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accent3"/>
                </a:solidFill>
                <a:latin typeface="Average"/>
                <a:ea typeface="Average"/>
                <a:cs typeface="Average"/>
                <a:sym typeface="Average"/>
              </a:rPr>
              <a:t>By : Sakshi More</a:t>
            </a:r>
            <a:endParaRPr sz="1800">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627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66" name="Google Shape;66;p14"/>
          <p:cNvSpPr txBox="1"/>
          <p:nvPr>
            <p:ph idx="1" type="body"/>
          </p:nvPr>
        </p:nvSpPr>
        <p:spPr>
          <a:xfrm>
            <a:off x="311700" y="1669800"/>
            <a:ext cx="8520600" cy="2826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solidFill>
                  <a:srgbClr val="D5D5D5"/>
                </a:solidFill>
                <a:latin typeface="Oswald Medium"/>
                <a:ea typeface="Oswald Medium"/>
                <a:cs typeface="Oswald Medium"/>
                <a:sym typeface="Oswald Medium"/>
              </a:rPr>
              <a:t>In today's competitive business landscape, understanding market dynamics and competitor performance is crucial for strategic decision-making and sustained growth. This analysis focuses on exploring key financial metrics—market capitalization (Mar Cap) and quarterly sales (Sales Qtr)—of the top 500 companies in India. Market capitalization reflects the total market value of a company's outstanding shares, while quarterly sales provide a snapshot of revenue generation over a specific period.</a:t>
            </a:r>
            <a:endParaRPr sz="2200">
              <a:latin typeface="Oswald Medium"/>
              <a:ea typeface="Oswald Medium"/>
              <a:cs typeface="Oswald Medium"/>
              <a:sym typeface="Oswal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Project objective: </a:t>
            </a:r>
            <a:endParaRPr b="1" sz="4200"/>
          </a:p>
          <a:p>
            <a:pPr indent="0" lvl="0" marL="0" rtl="0" algn="l">
              <a:spcBef>
                <a:spcPts val="0"/>
              </a:spcBef>
              <a:spcAft>
                <a:spcPts val="0"/>
              </a:spcAft>
              <a:buNone/>
            </a:pPr>
            <a:r>
              <a:rPr lang="en" sz="4200"/>
              <a:t> </a:t>
            </a:r>
            <a:r>
              <a:rPr lang="en" sz="2100"/>
              <a:t>To analyze </a:t>
            </a:r>
            <a:r>
              <a:rPr lang="en" sz="2100"/>
              <a:t>the competitive landscape among the top 500 </a:t>
            </a:r>
            <a:r>
              <a:rPr lang="en" sz="2100"/>
              <a:t>companies in India based on their market capitalization and quarterly sales data, and to derive meaningful insights that can guide strategic decision-making and enhance competitive advantage.</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Details of Data </a:t>
            </a:r>
            <a:endParaRPr/>
          </a:p>
        </p:txBody>
      </p:sp>
      <p:sp>
        <p:nvSpPr>
          <p:cNvPr id="77" name="Google Shape;77;p16"/>
          <p:cNvSpPr txBox="1"/>
          <p:nvPr>
            <p:ph idx="2" type="body"/>
          </p:nvPr>
        </p:nvSpPr>
        <p:spPr>
          <a:xfrm>
            <a:off x="4643775" y="914125"/>
            <a:ext cx="4266000" cy="3717600"/>
          </a:xfrm>
          <a:prstGeom prst="rect">
            <a:avLst/>
          </a:prstGeom>
        </p:spPr>
        <p:txBody>
          <a:bodyPr anchorCtr="0" anchor="ctr" bIns="91425" lIns="91425" spcFirstLastPara="1" rIns="91425" wrap="square" tIns="91425">
            <a:noAutofit/>
          </a:bodyPr>
          <a:lstStyle/>
          <a:p>
            <a:pPr indent="-406400" lvl="0" marL="457200" rtl="0" algn="l">
              <a:spcBef>
                <a:spcPts val="0"/>
              </a:spcBef>
              <a:spcAft>
                <a:spcPts val="0"/>
              </a:spcAft>
              <a:buClr>
                <a:srgbClr val="434343"/>
              </a:buClr>
              <a:buSzPts val="2800"/>
              <a:buFont typeface="Oswald Medium"/>
              <a:buChar char="●"/>
            </a:pPr>
            <a:r>
              <a:rPr lang="en" sz="2050">
                <a:solidFill>
                  <a:srgbClr val="434343"/>
                </a:solidFill>
                <a:latin typeface="Oswald Medium"/>
                <a:ea typeface="Oswald Medium"/>
                <a:cs typeface="Oswald Medium"/>
                <a:sym typeface="Oswald Medium"/>
              </a:rPr>
              <a:t>Name: </a:t>
            </a:r>
            <a:r>
              <a:rPr lang="en" sz="1550">
                <a:solidFill>
                  <a:srgbClr val="434343"/>
                </a:solidFill>
                <a:latin typeface="Oswald Medium"/>
                <a:ea typeface="Oswald Medium"/>
                <a:cs typeface="Oswald Medium"/>
                <a:sym typeface="Oswald Medium"/>
              </a:rPr>
              <a:t>This attribute serves as the identifier for each company in the dataset.</a:t>
            </a:r>
            <a:endParaRPr sz="1550">
              <a:solidFill>
                <a:srgbClr val="434343"/>
              </a:solidFill>
              <a:latin typeface="Oswald Medium"/>
              <a:ea typeface="Oswald Medium"/>
              <a:cs typeface="Oswald Medium"/>
              <a:sym typeface="Oswald Medium"/>
            </a:endParaRPr>
          </a:p>
          <a:p>
            <a:pPr indent="-406400" lvl="0" marL="457200" rtl="0" algn="l">
              <a:spcBef>
                <a:spcPts val="0"/>
              </a:spcBef>
              <a:spcAft>
                <a:spcPts val="0"/>
              </a:spcAft>
              <a:buClr>
                <a:srgbClr val="434343"/>
              </a:buClr>
              <a:buSzPts val="2800"/>
              <a:buFont typeface="Oswald Medium"/>
              <a:buChar char="●"/>
            </a:pPr>
            <a:r>
              <a:rPr lang="en" sz="2050">
                <a:solidFill>
                  <a:srgbClr val="434343"/>
                </a:solidFill>
                <a:latin typeface="Oswald Medium"/>
                <a:ea typeface="Oswald Medium"/>
                <a:cs typeface="Oswald Medium"/>
                <a:sym typeface="Oswald Medium"/>
              </a:rPr>
              <a:t>Mar Cap -</a:t>
            </a:r>
            <a:r>
              <a:rPr lang="en" sz="1550">
                <a:solidFill>
                  <a:srgbClr val="434343"/>
                </a:solidFill>
                <a:latin typeface="Oswald Medium"/>
                <a:ea typeface="Oswald Medium"/>
                <a:cs typeface="Oswald Medium"/>
                <a:sym typeface="Oswald Medium"/>
              </a:rPr>
              <a:t> Crore:Indicates the total market value of a company's outstanding shares. It reflects the market's perception of the company's value.</a:t>
            </a:r>
            <a:endParaRPr sz="1550">
              <a:solidFill>
                <a:srgbClr val="434343"/>
              </a:solidFill>
              <a:latin typeface="Oswald Medium"/>
              <a:ea typeface="Oswald Medium"/>
              <a:cs typeface="Oswald Medium"/>
              <a:sym typeface="Oswald Medium"/>
            </a:endParaRPr>
          </a:p>
          <a:p>
            <a:pPr indent="-406400" lvl="0" marL="457200" rtl="0" algn="l">
              <a:spcBef>
                <a:spcPts val="0"/>
              </a:spcBef>
              <a:spcAft>
                <a:spcPts val="0"/>
              </a:spcAft>
              <a:buClr>
                <a:srgbClr val="434343"/>
              </a:buClr>
              <a:buSzPts val="2800"/>
              <a:buFont typeface="Oswald Medium"/>
              <a:buChar char="●"/>
            </a:pPr>
            <a:r>
              <a:rPr lang="en" sz="2050">
                <a:solidFill>
                  <a:srgbClr val="434343"/>
                </a:solidFill>
                <a:latin typeface="Oswald Medium"/>
                <a:ea typeface="Oswald Medium"/>
                <a:cs typeface="Oswald Medium"/>
                <a:sym typeface="Oswald Medium"/>
              </a:rPr>
              <a:t> Sales Qtr -</a:t>
            </a:r>
            <a:r>
              <a:rPr lang="en" sz="1550">
                <a:solidFill>
                  <a:srgbClr val="434343"/>
                </a:solidFill>
                <a:latin typeface="Oswald Medium"/>
                <a:ea typeface="Oswald Medium"/>
                <a:cs typeface="Oswald Medium"/>
                <a:sym typeface="Oswald Medium"/>
              </a:rPr>
              <a:t> Crore:Represents the revenue generated by the company in a quarter. It reflects the company's operational performance and sales effectiveness.</a:t>
            </a:r>
            <a:endParaRPr sz="1550">
              <a:solidFill>
                <a:srgbClr val="434343"/>
              </a:solidFill>
              <a:latin typeface="Oswald Medium"/>
              <a:ea typeface="Oswald Medium"/>
              <a:cs typeface="Oswald Medium"/>
              <a:sym typeface="Oswald Medium"/>
            </a:endParaRPr>
          </a:p>
          <a:p>
            <a:pPr indent="-406400" lvl="0" marL="457200" rtl="0" algn="l">
              <a:spcBef>
                <a:spcPts val="0"/>
              </a:spcBef>
              <a:spcAft>
                <a:spcPts val="0"/>
              </a:spcAft>
              <a:buClr>
                <a:srgbClr val="434343"/>
              </a:buClr>
              <a:buSzPts val="2800"/>
              <a:buFont typeface="Oswald Medium"/>
              <a:buChar char="●"/>
            </a:pPr>
            <a:r>
              <a:rPr lang="en" sz="2050">
                <a:solidFill>
                  <a:srgbClr val="434343"/>
                </a:solidFill>
                <a:latin typeface="Oswald Medium"/>
                <a:ea typeface="Oswald Medium"/>
                <a:cs typeface="Oswald Medium"/>
                <a:sym typeface="Oswald Medium"/>
              </a:rPr>
              <a:t>Ratio - </a:t>
            </a:r>
            <a:r>
              <a:rPr lang="en" sz="1550">
                <a:solidFill>
                  <a:srgbClr val="434343"/>
                </a:solidFill>
                <a:latin typeface="Oswald Medium"/>
                <a:ea typeface="Oswald Medium"/>
                <a:cs typeface="Oswald Medium"/>
                <a:sym typeface="Oswald Medium"/>
              </a:rPr>
              <a:t>Crore:Calculated as Market Cap / Quarterly Sales. It indicates how efficiently the company is valued relative to its revenue generation.</a:t>
            </a:r>
            <a:endParaRPr sz="1550">
              <a:solidFill>
                <a:srgbClr val="434343"/>
              </a:solidFill>
              <a:latin typeface="Oswald Medium"/>
              <a:ea typeface="Oswald Medium"/>
              <a:cs typeface="Oswald Medium"/>
              <a:sym typeface="Oswald Medium"/>
            </a:endParaRPr>
          </a:p>
          <a:p>
            <a:pPr indent="0" lvl="0" marL="457200" rtl="0" algn="l">
              <a:spcBef>
                <a:spcPts val="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Understanding the Financial 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548475" y="700975"/>
            <a:ext cx="828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Financial Analytic</a:t>
            </a:r>
            <a:endParaRPr/>
          </a:p>
        </p:txBody>
      </p:sp>
      <p:sp>
        <p:nvSpPr>
          <p:cNvPr id="88" name="Google Shape;88;p18"/>
          <p:cNvSpPr txBox="1"/>
          <p:nvPr>
            <p:ph idx="1" type="body"/>
          </p:nvPr>
        </p:nvSpPr>
        <p:spPr>
          <a:xfrm>
            <a:off x="311700" y="1273675"/>
            <a:ext cx="8427300" cy="3295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t>The analysis of competition among the top 500 companies in India involves examining two critical metrics: market capitalization (Mar Cap) and quarterly sales (Sales Qtr). Market capitalization provides a measure of the total market value of a company's outstanding shares, offering insights into its perceived value by the market. Key aspects include calculating average market capitalization across the dataset, assessing its distribution to identify outliers or clusters, and conducting a sector-wise breakdown to understand which sectors hold significant market value. On the other hand, quarterly sales represent the revenue generated by companies within a quarter, indicating their operational performance. Analyzing quarterly sales involves studying its distribution to gauge revenue scales across companies, calculating growth rates to identify high-performing entities, and comparing sales performance across sectors to discern industry leaders in revenue generation.</a:t>
            </a:r>
            <a:endParaRPr sz="1600"/>
          </a:p>
          <a:p>
            <a:pPr indent="0" lvl="0" marL="0" rtl="0" algn="l">
              <a:spcBef>
                <a:spcPts val="1200"/>
              </a:spcBef>
              <a:spcAft>
                <a:spcPts val="16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4294967295" type="body"/>
          </p:nvPr>
        </p:nvSpPr>
        <p:spPr>
          <a:xfrm>
            <a:off x="311700" y="8775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solidFill>
                  <a:srgbClr val="D5D5D5"/>
                </a:solidFill>
                <a:latin typeface="Oswald"/>
                <a:ea typeface="Oswald"/>
                <a:cs typeface="Oswald"/>
                <a:sym typeface="Oswald"/>
              </a:rPr>
              <a:t>This analysis explores the relationship between market capitalization (Mar Cap) and quarterly sales (Sales Qtr) of India's top 500 companies. Key findings reveal a strong positive correlation between higher sales and increased market capitalization, highlighting the influence of revenue generation on market valuation. The analysis, supported by descriptive statistics and visualizations, provides actionable insights for strategic decision-making, emphasizing the importance of understanding financial metrics to navigate competitive landscapes effectively and drive sustainable growth.</a:t>
            </a:r>
            <a:endParaRPr sz="2000">
              <a:solidFill>
                <a:srgbClr val="D5D5D5"/>
              </a:solidFill>
              <a:latin typeface="Oswald"/>
              <a:ea typeface="Oswald"/>
              <a:cs typeface="Oswald"/>
              <a:sym typeface="Oswald"/>
            </a:endParaRPr>
          </a:p>
        </p:txBody>
      </p:sp>
      <p:pic>
        <p:nvPicPr>
          <p:cNvPr id="94" name="Google Shape;94;p19"/>
          <p:cNvPicPr preferRelativeResize="0"/>
          <p:nvPr/>
        </p:nvPicPr>
        <p:blipFill>
          <a:blip r:embed="rId3">
            <a:alphaModFix/>
          </a:blip>
          <a:stretch>
            <a:fillRect/>
          </a:stretch>
        </p:blipFill>
        <p:spPr>
          <a:xfrm>
            <a:off x="4427450" y="877575"/>
            <a:ext cx="4527601" cy="341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Work:</a:t>
            </a:r>
            <a:endParaRPr/>
          </a:p>
        </p:txBody>
      </p:sp>
      <p:pic>
        <p:nvPicPr>
          <p:cNvPr id="100" name="Google Shape;100;p20"/>
          <p:cNvPicPr preferRelativeResize="0"/>
          <p:nvPr/>
        </p:nvPicPr>
        <p:blipFill>
          <a:blip r:embed="rId3">
            <a:alphaModFix/>
          </a:blip>
          <a:stretch>
            <a:fillRect/>
          </a:stretch>
        </p:blipFill>
        <p:spPr>
          <a:xfrm>
            <a:off x="311700" y="1319163"/>
            <a:ext cx="2882500" cy="2870825"/>
          </a:xfrm>
          <a:prstGeom prst="rect">
            <a:avLst/>
          </a:prstGeom>
          <a:noFill/>
          <a:ln>
            <a:noFill/>
          </a:ln>
        </p:spPr>
      </p:pic>
      <p:pic>
        <p:nvPicPr>
          <p:cNvPr id="101" name="Google Shape;101;p20"/>
          <p:cNvPicPr preferRelativeResize="0"/>
          <p:nvPr/>
        </p:nvPicPr>
        <p:blipFill>
          <a:blip r:embed="rId4">
            <a:alphaModFix/>
          </a:blip>
          <a:stretch>
            <a:fillRect/>
          </a:stretch>
        </p:blipFill>
        <p:spPr>
          <a:xfrm>
            <a:off x="3194200" y="1319175"/>
            <a:ext cx="2968376" cy="2870800"/>
          </a:xfrm>
          <a:prstGeom prst="rect">
            <a:avLst/>
          </a:prstGeom>
          <a:noFill/>
          <a:ln>
            <a:noFill/>
          </a:ln>
        </p:spPr>
      </p:pic>
      <p:pic>
        <p:nvPicPr>
          <p:cNvPr id="102" name="Google Shape;102;p20"/>
          <p:cNvPicPr preferRelativeResize="0"/>
          <p:nvPr/>
        </p:nvPicPr>
        <p:blipFill>
          <a:blip r:embed="rId5">
            <a:alphaModFix/>
          </a:blip>
          <a:stretch>
            <a:fillRect/>
          </a:stretch>
        </p:blipFill>
        <p:spPr>
          <a:xfrm>
            <a:off x="6162575" y="1319175"/>
            <a:ext cx="2712125" cy="2870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176750" y="697800"/>
            <a:ext cx="3945576" cy="3747900"/>
          </a:xfrm>
          <a:prstGeom prst="rect">
            <a:avLst/>
          </a:prstGeom>
          <a:noFill/>
          <a:ln>
            <a:noFill/>
          </a:ln>
        </p:spPr>
      </p:pic>
      <p:pic>
        <p:nvPicPr>
          <p:cNvPr id="108" name="Google Shape;108;p21"/>
          <p:cNvPicPr preferRelativeResize="0"/>
          <p:nvPr/>
        </p:nvPicPr>
        <p:blipFill>
          <a:blip r:embed="rId4">
            <a:alphaModFix/>
          </a:blip>
          <a:stretch>
            <a:fillRect/>
          </a:stretch>
        </p:blipFill>
        <p:spPr>
          <a:xfrm>
            <a:off x="4122325" y="697800"/>
            <a:ext cx="4716876" cy="37478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2"/>
          <p:cNvPicPr preferRelativeResize="0"/>
          <p:nvPr/>
        </p:nvPicPr>
        <p:blipFill>
          <a:blip r:embed="rId3">
            <a:alphaModFix/>
          </a:blip>
          <a:stretch>
            <a:fillRect/>
          </a:stretch>
        </p:blipFill>
        <p:spPr>
          <a:xfrm>
            <a:off x="152400" y="554600"/>
            <a:ext cx="4076700" cy="3895725"/>
          </a:xfrm>
          <a:prstGeom prst="rect">
            <a:avLst/>
          </a:prstGeom>
          <a:noFill/>
          <a:ln>
            <a:noFill/>
          </a:ln>
        </p:spPr>
      </p:pic>
      <p:pic>
        <p:nvPicPr>
          <p:cNvPr id="114" name="Google Shape;114;p22"/>
          <p:cNvPicPr preferRelativeResize="0"/>
          <p:nvPr/>
        </p:nvPicPr>
        <p:blipFill>
          <a:blip r:embed="rId4">
            <a:alphaModFix/>
          </a:blip>
          <a:stretch>
            <a:fillRect/>
          </a:stretch>
        </p:blipFill>
        <p:spPr>
          <a:xfrm>
            <a:off x="4229100" y="554600"/>
            <a:ext cx="4753750" cy="3895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214200" y="1426050"/>
            <a:ext cx="4260300" cy="157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600"/>
              <a:t>Thank You</a:t>
            </a:r>
            <a:endParaRPr sz="8600"/>
          </a:p>
        </p:txBody>
      </p:sp>
      <p:cxnSp>
        <p:nvCxnSpPr>
          <p:cNvPr id="120" name="Google Shape;120;p23"/>
          <p:cNvCxnSpPr/>
          <p:nvPr/>
        </p:nvCxnSpPr>
        <p:spPr>
          <a:xfrm>
            <a:off x="463150" y="2681450"/>
            <a:ext cx="3863700" cy="12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